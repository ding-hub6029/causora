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6b1f4b4e84491" /><Relationship Type="http://schemas.openxmlformats.org/officeDocument/2006/relationships/extended-properties" Target="/docProps/app.xml" Id="Re66a4769759d465b" /><Relationship Type="http://schemas.openxmlformats.org/officeDocument/2006/relationships/officeDocument" Target="/ppt/presentation.xml" Id="R1c6eb49b072949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f7ba469aae426c"/>
  </p:sldMasterIdLst>
  <p:notesMasterIdLst>
    <p:notesMasterId xmlns:r="http://schemas.openxmlformats.org/officeDocument/2006/relationships" r:id="R2667ae3180e54376"/>
  </p:notesMasterIdLst>
  <p:sldIdLst>
    <p:sldId xmlns:r="http://schemas.openxmlformats.org/officeDocument/2006/relationships" id="256" r:id="R1397d2ced7f9425e"/>
    <p:sldId xmlns:r="http://schemas.openxmlformats.org/officeDocument/2006/relationships" id="257" r:id="R79b218f0344d47cc"/>
    <p:sldId xmlns:r="http://schemas.openxmlformats.org/officeDocument/2006/relationships" id="258" r:id="R54cdb14a45e04b3e"/>
    <p:sldId xmlns:r="http://schemas.openxmlformats.org/officeDocument/2006/relationships" id="259" r:id="R60d488b5081c4fa8"/>
    <p:sldId xmlns:r="http://schemas.openxmlformats.org/officeDocument/2006/relationships" id="260" r:id="R3272eb25989148ee"/>
    <p:sldId xmlns:r="http://schemas.openxmlformats.org/officeDocument/2006/relationships" id="261" r:id="Rcf0a2b2c592140d3"/>
    <p:sldId xmlns:r="http://schemas.openxmlformats.org/officeDocument/2006/relationships" id="262" r:id="Rd08293db5b0d462c"/>
    <p:sldId xmlns:r="http://schemas.openxmlformats.org/officeDocument/2006/relationships" id="263" r:id="Rf805647839f54bd5"/>
    <p:sldId xmlns:r="http://schemas.openxmlformats.org/officeDocument/2006/relationships" id="264" r:id="R4e4d1892e4924b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ef2c7c74ab4267" /><Relationship Type="http://schemas.openxmlformats.org/officeDocument/2006/relationships/slideMaster" Target="/ppt/slideMasters/slideMaster1.xml" Id="Rc3f7ba469aae426c" /><Relationship Type="http://schemas.openxmlformats.org/officeDocument/2006/relationships/notesMaster" Target="/ppt/notesMasters/notesMaster1.xml" Id="R2667ae3180e54376" /><Relationship Type="http://schemas.openxmlformats.org/officeDocument/2006/relationships/presProps" Target="/ppt/presProps.xml" Id="Rce20522a29474993" /><Relationship Type="http://schemas.openxmlformats.org/officeDocument/2006/relationships/tableStyles" Target="/ppt/tableStyles.xml" Id="Rddbb85a4656c4183" /><Relationship Type="http://schemas.openxmlformats.org/officeDocument/2006/relationships/slide" Target="/ppt/slides/slide1.xml" Id="R1397d2ced7f9425e" /><Relationship Type="http://schemas.openxmlformats.org/officeDocument/2006/relationships/slide" Target="/ppt/slides/slide2.xml" Id="R79b218f0344d47cc" /><Relationship Type="http://schemas.openxmlformats.org/officeDocument/2006/relationships/slide" Target="/ppt/slides/slide3.xml" Id="R54cdb14a45e04b3e" /><Relationship Type="http://schemas.openxmlformats.org/officeDocument/2006/relationships/slide" Target="/ppt/slides/slide4.xml" Id="R60d488b5081c4fa8" /><Relationship Type="http://schemas.openxmlformats.org/officeDocument/2006/relationships/slide" Target="/ppt/slides/slide5.xml" Id="R3272eb25989148ee" /><Relationship Type="http://schemas.openxmlformats.org/officeDocument/2006/relationships/slide" Target="/ppt/slides/slide6.xml" Id="Rcf0a2b2c592140d3" /><Relationship Type="http://schemas.openxmlformats.org/officeDocument/2006/relationships/slide" Target="/ppt/slides/slide7.xml" Id="Rd08293db5b0d462c" /><Relationship Type="http://schemas.openxmlformats.org/officeDocument/2006/relationships/slide" Target="/ppt/slides/slide8.xml" Id="Rf805647839f54bd5" /><Relationship Type="http://schemas.openxmlformats.org/officeDocument/2006/relationships/slide" Target="/ppt/slides/slide9.xml" Id="R4e4d1892e492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458089a5f44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4f02e1b04c4c91" /><Relationship Type="http://schemas.openxmlformats.org/officeDocument/2006/relationships/notesMaster" Target="/ppt/notesMasters/notesMaster1.xml" Id="R2d840d689d4146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1c62e2b934ba2" /><Relationship Type="http://schemas.openxmlformats.org/officeDocument/2006/relationships/notesMaster" Target="/ppt/notesMasters/notesMaster1.xml" Id="R3b7c0fb850684d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1cdd511d544713" /><Relationship Type="http://schemas.openxmlformats.org/officeDocument/2006/relationships/notesMaster" Target="/ppt/notesMasters/notesMaster1.xml" Id="R83ea8e0cdea548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9bf1b181e14c9d" /><Relationship Type="http://schemas.openxmlformats.org/officeDocument/2006/relationships/notesMaster" Target="/ppt/notesMasters/notesMaster1.xml" Id="R2fd53e096e7542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ed7eb5ae11459c" /><Relationship Type="http://schemas.openxmlformats.org/officeDocument/2006/relationships/notesMaster" Target="/ppt/notesMasters/notesMaster1.xml" Id="R5694c99cfd3d41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02911d92624ec6" /><Relationship Type="http://schemas.openxmlformats.org/officeDocument/2006/relationships/notesMaster" Target="/ppt/notesMasters/notesMaster1.xml" Id="Re449665362cd4f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86202b563f4fae" /><Relationship Type="http://schemas.openxmlformats.org/officeDocument/2006/relationships/notesMaster" Target="/ppt/notesMasters/notesMaster1.xml" Id="R6e8ab5678d2041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17e4ab000e418f" /><Relationship Type="http://schemas.openxmlformats.org/officeDocument/2006/relationships/notesMaster" Target="/ppt/notesMasters/notesMaster1.xml" Id="R005fa16d24aa43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4ba722b33347c6" /><Relationship Type="http://schemas.openxmlformats.org/officeDocument/2006/relationships/notesMaster" Target="/ppt/notesMasters/notesMaster1.xml" Id="Rbdcc3ada388f49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f2c0772b147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ab36936d748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2f1168d0b4b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fb59c1dc149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12382f5644d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96a48644b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A3513F-2907-437C-A317-0993A021C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368337-6A7F-4543-923C-9334E1AD04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69E6DA-7C0F-45EC-B3E7-BEC655976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7E0D31-A955-47AD-AAF1-114D039D1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6A0223-7BAD-4C6B-9708-4CF7DB5D1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10261A-A260-4C4B-AB29-5A7E6BC570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644A92-5429-43A4-A0C2-966AFAF779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C05198-0B15-48B7-BCC9-FD807F4195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7D4CD1-4E51-4AE5-B1F8-456CA29A3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5BF3CC-65F0-4700-A2CA-EE450EB08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71be56893048d8" /><Relationship Type="http://schemas.openxmlformats.org/officeDocument/2006/relationships/slideLayout" Target="/ppt/slideLayouts/slideLayout1.xml" Id="Rcf4dd9402f8a43b5" /><Relationship Type="http://schemas.openxmlformats.org/officeDocument/2006/relationships/slideLayout" Target="/ppt/slideLayouts/slideLayout2.xml" Id="Rb2daf62d799a4b7a" /><Relationship Type="http://schemas.openxmlformats.org/officeDocument/2006/relationships/slideLayout" Target="/ppt/slideLayouts/slideLayout3.xml" Id="R8f1f24085dbf4932" /><Relationship Type="http://schemas.openxmlformats.org/officeDocument/2006/relationships/slideLayout" Target="/ppt/slideLayouts/slideLayout4.xml" Id="R6aab02c421cc4eb6" /><Relationship Type="http://schemas.openxmlformats.org/officeDocument/2006/relationships/slideLayout" Target="/ppt/slideLayouts/slideLayout5.xml" Id="R12268b9bccca41fa" /><Relationship Type="http://schemas.openxmlformats.org/officeDocument/2006/relationships/slideLayout" Target="/ppt/slideLayouts/slideLayout6.xml" Id="Rd8dea57959bf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4dd9402f8a43b5"/>
    <p:sldLayoutId xmlns:r="http://schemas.openxmlformats.org/officeDocument/2006/relationships" id="2147483650" r:id="Rb2daf62d799a4b7a"/>
    <p:sldLayoutId xmlns:r="http://schemas.openxmlformats.org/officeDocument/2006/relationships" id="2147483651" r:id="R8f1f24085dbf4932"/>
    <p:sldLayoutId xmlns:r="http://schemas.openxmlformats.org/officeDocument/2006/relationships" id="2147483652" r:id="R6aab02c421cc4eb6"/>
    <p:sldLayoutId xmlns:r="http://schemas.openxmlformats.org/officeDocument/2006/relationships" id="2147483653" r:id="R12268b9bccca41fa"/>
    <p:sldLayoutId xmlns:r="http://schemas.openxmlformats.org/officeDocument/2006/relationships" id="2147483654" r:id="Rd8dea57959bf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6603ff52e47b8" /><Relationship Type="http://schemas.openxmlformats.org/officeDocument/2006/relationships/notesSlide" Target="/ppt/notesSlides/notesSlide1.xml" Id="R87ec5e0a0c29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8aa0acefd4f29" /><Relationship Type="http://schemas.openxmlformats.org/officeDocument/2006/relationships/notesSlide" Target="/ppt/notesSlides/notesSlide2.xml" Id="R5df021d6954a4a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aafbb33d44e4c" /><Relationship Type="http://schemas.openxmlformats.org/officeDocument/2006/relationships/notesSlide" Target="/ppt/notesSlides/notesSlide3.xml" Id="R252ff2aebdcb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1b863b18634555" /><Relationship Type="http://schemas.openxmlformats.org/officeDocument/2006/relationships/notesSlide" Target="/ppt/notesSlides/notesSlide4.xml" Id="R32a9ae1283a648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26641a82a4d7f" /><Relationship Type="http://schemas.openxmlformats.org/officeDocument/2006/relationships/notesSlide" Target="/ppt/notesSlides/notesSlide5.xml" Id="Rb7e35e3ef02340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dc7d0f6544aa4" /><Relationship Type="http://schemas.openxmlformats.org/officeDocument/2006/relationships/notesSlide" Target="/ppt/notesSlides/notesSlide6.xml" Id="R26c41e66455c48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b6f9280024025" /><Relationship Type="http://schemas.openxmlformats.org/officeDocument/2006/relationships/image" Target="/ppt/media/image.jpeg" Id="R01b74e1f98d34de5" /><Relationship Type="http://schemas.openxmlformats.org/officeDocument/2006/relationships/notesSlide" Target="/ppt/notesSlides/notesSlide7.xml" Id="R483f391ebeed4a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8d10350f54fe2" /><Relationship Type="http://schemas.openxmlformats.org/officeDocument/2006/relationships/notesSlide" Target="/ppt/notesSlides/notesSlide8.xml" Id="Re5d3143b21ef49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79111c2f548db" /><Relationship Type="http://schemas.openxmlformats.org/officeDocument/2006/relationships/notesSlide" Target="/ppt/notesSlides/notesSlide9.xml" Id="Rfc38872322aa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1D465-1CC7-4301-8EEF-14463B6C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SUPPLIER 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DDB57-342D-4E8B-BD50-1E869ED2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38509-F7FC-4340-A5BD-469C801B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52299-13C6-4213-BCA0-DC274E2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382B9-A120-4E01-9807-BC464332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5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The algorithm behind</a:t>
            </a:r>
          </a:p>
          <a:p xmlns:a="http://schemas.openxmlformats.org/drawingml/2006/main">
            <a:pPr>
              <a:buNone/>
              <a:defRPr sz="45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an inspectable AI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D0D8C-C8AF-4CE2-A8FC-9DED6956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FF55"/>
                </a:solidFill>
                <a:latin typeface="Arial"/>
                <a:ea typeface="Arial"/>
                <a:cs typeface="Arial"/>
              </a:rPr>
              <a:t>Simulation computes the tradeoffs.</a:t>
            </a:r>
          </a:p>
          <a:p xmlns:a="http://schemas.openxmlformats.org/drawingml/2006/main">
            <a:pPr>
              <a:buNone/>
              <a:defRPr sz="2250" b="0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FF55"/>
                </a:solidFill>
                <a:latin typeface="Arial"/>
                <a:ea typeface="Arial"/>
                <a:cs typeface="Arial"/>
              </a:rPr>
              <a:t>AI challenges the reasoning. Humans make the final call.</a:t>
            </a:r>
          </a:p>
        </p:txBody>
      </p:sp>
    </p:spTree>
    <p:extLst>
      <p:ext uri="{BB962C8B-B14F-4D97-AF65-F5344CB8AC3E}">
        <p14:creationId xmlns:p14="http://schemas.microsoft.com/office/powerpoint/2010/main" val="1864278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237E3-C1D3-4CFC-BD90-7CDC07A0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D03E7-318C-46AF-9541-BE834AE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The renewal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3205C-1667-417D-B408-9C70C889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CA54F-02AE-407B-B327-ABC2155B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813CE-EC81-4E7E-A580-1CA84390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05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26,000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AA327-EF9A-4A46-A9A2-621CB9B1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Locked 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88C86-0A93-407C-B615-A9BFD62D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60% minimum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3EE6C-FB1A-4743-BD0D-49322046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15,600 units committed to Supplier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BECA9-9B1C-4A73-B445-5C96DA9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Demand falls to 22,100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42477-8623-43A1-89A3-064922EC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The commitment stays fixed as demand falls</a:t>
            </a:r>
          </a:p>
        </p:txBody>
      </p:sp>
    </p:spTree>
    <p:extLst>
      <p:ext uri="{BB962C8B-B14F-4D97-AF65-F5344CB8AC3E}">
        <p14:creationId xmlns:p14="http://schemas.microsoft.com/office/powerpoint/2010/main" val="1966950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94050-3C4A-4B8C-8DBC-D67E36E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45261-95BB-496C-9F59-F6351216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Monte Carlo 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CD06C-336B-4FF4-860E-6C463985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2AEDA-6CCC-4D1E-9FE4-C21A8919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869CD-5C2B-4F1D-BEE4-2E129F9B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9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1,000 trials × 104 weeks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9F81B-CF6B-4841-AA5F-D0CBE28C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EDD8E-E85C-40F1-BB54-7C8830A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Bootstrap historical</a:t>
            </a:r>
          </a:p>
          <a:p xmlns:a="http://schemas.openxmlformats.org/drawingml/2006/main">
            <a:pPr>
              <a:buNone/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weekly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2E025-9C48-4E4D-8514-A3E7FDC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Supplier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1A580-1F02-43D6-8570-5B451E0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29025"/>
            <a:ext cx="319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Bootstrap observed</a:t>
            </a:r>
          </a:p>
          <a:p xmlns:a="http://schemas.openxmlformats.org/drawingml/2006/main">
            <a:pPr>
              <a:buNone/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lead times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8DC93-A437-444F-B73B-F2245A9E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Supplier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6625F-58C3-4027-B12C-913B31F2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290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Triangular lead times</a:t>
            </a:r>
          </a:p>
          <a:p xmlns:a="http://schemas.openxmlformats.org/drawingml/2006/main">
            <a:pPr>
              <a:buNone/>
              <a:defRPr sz="21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with explicit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C853E-4C1F-4F43-BBE0-D7C2ECD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PCG64 seed 1042026 reuses the same world draws across options</a:t>
            </a:r>
          </a:p>
        </p:txBody>
      </p:sp>
    </p:spTree>
    <p:extLst>
      <p:ext uri="{BB962C8B-B14F-4D97-AF65-F5344CB8AC3E}">
        <p14:creationId xmlns:p14="http://schemas.microsoft.com/office/powerpoint/2010/main" val="93783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FE7B8-B983-4DD1-9097-450D3C96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C48E5-6274-4006-9280-1E4026D7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Inventory and cost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82659-B32D-41C2-A43A-DE37BB98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3C674-F885-4C24-92F0-85E4756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88AD7-EF7C-4BEE-9223-56DBCEE1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Available = opening stock + arrivals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1AE7D-035A-4D8E-8E6F-760582AD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Filled demand = min(demand, available)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4EFB8-2F19-48AD-A5CE-70B288C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Shortage = demand − filled demand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5D129-2BCC-4725-9ABB-94DB92FE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Inventory position triggers replenishment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F3777-F924-4543-B58B-DF921BEE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Expected TCO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ACE2A-FD14-4155-BFD2-4AF4DFA8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Mean purchase + holding + shortage loss + renewal premium + exit fee</a:t>
            </a:r>
          </a:p>
        </p:txBody>
      </p:sp>
    </p:spTree>
    <p:extLst>
      <p:ext uri="{BB962C8B-B14F-4D97-AF65-F5344CB8AC3E}">
        <p14:creationId xmlns:p14="http://schemas.microsoft.com/office/powerpoint/2010/main" val="139802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01836-A5F8-4831-BF9E-FA99E6F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E4F1-A8B3-4DC2-8BF4-B8B5E92E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Constraint screening before cost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FBD66-4792-460D-BDB2-54826140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ACEE7-4A01-4CF1-A3B4-969D3FD1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77C36-5EDC-4C62-ABD7-DDC5F803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Contract feasibility, stockout ≤ 12%, cash P90 ≤ $480,000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CAA11-8FAF-41AD-A42C-A08C09359B99}"/>
              </a:ext>
            </a:extLst>
          </p:cNvPr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2524125"/>
                <a:gridCol w="1809750"/>
                <a:gridCol w="2590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9D1"/>
                          </a:solidFill>
                          <a:latin typeface="Arial"/>
                          <a:ea typeface="Arial"/>
                          <a:cs typeface="Arial"/>
                        </a:rPr>
                        <a:t>Baseline option</a:t>
                      </a:r>
                    </a:p>
                  </a:txBody>
                  <a:tcPr marL="91440" marR="91440" marT="45720" marB="45720">
                    <a:solidFill>
                      <a:srgbClr val="15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9D1"/>
                          </a:solidFill>
                          <a:latin typeface="Arial"/>
                          <a:ea typeface="Arial"/>
                          <a:cs typeface="Arial"/>
                        </a:rPr>
                        <a:t>Expected TCO</a:t>
                      </a:r>
                    </a:p>
                  </a:txBody>
                  <a:tcPr marL="91440" marR="91440" marT="45720" marB="45720">
                    <a:solidFill>
                      <a:srgbClr val="15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9D1"/>
                          </a:solidFill>
                          <a:latin typeface="Arial"/>
                          <a:ea typeface="Arial"/>
                          <a:cs typeface="Arial"/>
                        </a:rPr>
                        <a:t>Stockout</a:t>
                      </a:r>
                    </a:p>
                  </a:txBody>
                  <a:tcPr marL="91440" marR="91440" marT="45720" marB="45720">
                    <a:solidFill>
                      <a:srgbClr val="15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9D1"/>
                          </a:solidFill>
                          <a:latin typeface="Arial"/>
                          <a:ea typeface="Arial"/>
                          <a:cs typeface="Arial"/>
                        </a:rPr>
                        <a:t>Eligibility</a:t>
                      </a:r>
                    </a:p>
                  </a:txBody>
                  <a:tcPr marL="91440" marR="91440" marT="45720" marB="45720">
                    <a:solidFill>
                      <a:srgbClr val="153F4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D0  Keep A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$365,811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91.9%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Fails risk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D1  Minimum A + B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$348,040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0.8%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Eligible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D2  Exit A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$356,665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89.5%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Fails risk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51A3D-A654-4927-983A-AAE420E2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Among eligible options, code selects the lowest expected TCO</a:t>
            </a:r>
          </a:p>
        </p:txBody>
      </p:sp>
    </p:spTree>
    <p:extLst>
      <p:ext uri="{BB962C8B-B14F-4D97-AF65-F5344CB8AC3E}">
        <p14:creationId xmlns:p14="http://schemas.microsoft.com/office/powerpoint/2010/main" val="156932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F7898-56B2-4E0E-B94D-EB58A8C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07E2F-D01A-42AF-9E4B-93079766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Real AI review through OpenRouter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F2E5C-92E4-41B3-886A-2D103278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BFB5B-471A-43C1-BC6B-45AF65C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C501D-F85D-4B5D-AD4D-E16C4C29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CFO, COO and Risk review in parallel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9A75-5B15-42A8-B92F-39B32FA7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Critic examines cross-view issues and evidence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6E696-3004-497B-A492-096259ED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Synthesizer produces a structured decision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5392D-489F-4817-9A0C-E1893B58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Validators check numbers, evidence and matching run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7BC46-9B4C-4D48-849E-DA9DE077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Normal path: 5 provider calls. Bounded correction or fallback may add 1.</a:t>
            </a:r>
          </a:p>
        </p:txBody>
      </p:sp>
    </p:spTree>
    <p:extLst>
      <p:ext uri="{BB962C8B-B14F-4D97-AF65-F5344CB8AC3E}">
        <p14:creationId xmlns:p14="http://schemas.microsoft.com/office/powerpoint/2010/main" val="474950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607BD-9381-4F46-958D-5DA60B25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56C10-DD73-451A-B378-254D63CF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Runtime and human decision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4460E-EF88-498C-8B53-1C0C11D7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1ABEA-A4FC-400D-AFDB-82D68436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6399D-F4D0-428F-A205-0BDB006A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Vercel frontend calls the Render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490A2-F091-4904-921D-456469B8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PostgreSQL stores the shared AI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FCDD6-FFBD-4314-B91F-7403DA60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Matching validated runs enable the human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2C5E4-4343-45B9-955E-9911034F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AI failure preserves the Matrix and Formula Trace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52910-E442-4472-BFF3-B0C97F8BF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74e1f98d34de5"/>
          <a:stretch xmlns:a="http://schemas.openxmlformats.org/drawingml/2006/main"/>
        </p:blipFill>
        <p:spPr>
          <a:xfrm xmlns:a="http://schemas.openxmlformats.org/drawingml/2006/main">
            <a:off x="6048375" y="2300223"/>
            <a:ext cx="5534025" cy="31148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84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E7656-817F-478F-9611-630A8DE3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6AE5B-0899-454E-8A3A-43E1E24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Differentiation through inspectable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EFB2-EC20-49DD-A3B4-67F80BFE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B326E-51B7-4406-A845-F718308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0AC9-5C75-4499-B310-7E97EF09110C}"/>
              </a:ext>
            </a:extLst>
          </p:cNvPr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29125"/>
                <a:gridCol w="6543675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9D1"/>
                          </a:solidFill>
                          <a:latin typeface="Arial"/>
                          <a:ea typeface="Arial"/>
                          <a:cs typeface="Arial"/>
                        </a:rPr>
                        <a:t>Design choice</a:t>
                      </a:r>
                    </a:p>
                  </a:txBody>
                  <a:tcPr marL="91440" marR="91440" marT="45720" marB="45720">
                    <a:solidFill>
                      <a:srgbClr val="15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7D9D1"/>
                          </a:solidFill>
                          <a:latin typeface="Arial"/>
                          <a:ea typeface="Arial"/>
                          <a:cs typeface="Arial"/>
                        </a:rPr>
                        <a:t>What a reviewer can inspect</a:t>
                      </a:r>
                    </a:p>
                  </a:txBody>
                  <a:tcPr marL="91440" marR="91440" marT="45720" marB="45720">
                    <a:solidFill>
                      <a:srgbClr val="153F4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Shared simulation draws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Fair option comparisons under the same sampled worlds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Formula and evidence links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How a number and contract constraint support a claim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Constrained AI roles + Critic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Where perspectives disagree and compound risks appear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Validation + run identity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5FAFC"/>
                          </a:solidFill>
                          <a:latin typeface="Arial"/>
                          <a:ea typeface="Arial"/>
                          <a:cs typeface="Arial"/>
                        </a:rPr>
                        <a:t>Whether the brief matches the calculation on screen</a:t>
                      </a:r>
                    </a:p>
                  </a:txBody>
                  <a:tcPr marL="91440" marR="91440" marT="45720" marB="45720">
                    <a:solidFill>
                      <a:srgbClr val="061C2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874B-C5DC-4A97-9E31-7FD57C8C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BFF55"/>
                </a:solidFill>
                <a:latin typeface="Arial"/>
                <a:ea typeface="Arial"/>
                <a:cs typeface="Arial"/>
              </a:rPr>
              <a:t>Target user: procurement teams reviewing a constrained supplier renewal</a:t>
            </a:r>
          </a:p>
        </p:txBody>
      </p:sp>
    </p:spTree>
    <p:extLst>
      <p:ext uri="{BB962C8B-B14F-4D97-AF65-F5344CB8AC3E}">
        <p14:creationId xmlns:p14="http://schemas.microsoft.com/office/powerpoint/2010/main" val="1874590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B2DAA-F955-4BAD-947B-A20D4E74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ALGORITHM AND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C064B-9F79-4A8E-9CAD-037F457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5FAFC"/>
                </a:solidFill>
                <a:latin typeface="Arial"/>
                <a:ea typeface="Arial"/>
                <a:cs typeface="Arial"/>
              </a:rPr>
              <a:t>Evidence and remaining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B982E-FDBE-408C-8FAF-3BD95D9C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1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CAD4"/>
                </a:solidFill>
                <a:latin typeface="Arial"/>
                <a:ea typeface="Arial"/>
                <a:cs typeface="Arial"/>
              </a:rPr>
              <a:t>CAUSORA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2CFE4-AD49-4B3C-BA2A-7CE2F0BF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436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D5440-59A3-410E-AAF4-37772618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CBFF5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BFF55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57420-380C-4872-83DB-CB2314A2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A complete real review with 5 returned stages</a:t>
            </a:r>
          </a:p>
          <a:p xmlns:a="http://schemas.openxmlformats.org/drawingml/2006/main">
            <a:pPr>
              <a:buNone/>
              <a:defRPr sz="225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Recorded provider cost of $0.02016645</a:t>
            </a:r>
          </a:p>
          <a:p xmlns:a="http://schemas.openxmlformats.org/drawingml/2006/main">
            <a:pPr>
              <a:buNone/>
              <a:defRPr sz="2250" b="0">
                <a:solidFill>
                  <a:srgbClr val="F5FAF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AFC"/>
                </a:solidFill>
                <a:latin typeface="Arial"/>
                <a:ea typeface="Arial"/>
                <a:cs typeface="Arial"/>
              </a:rPr>
              <a:t>Repeatable seeded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5951B-4771-4DB8-A8D5-DACE3D79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67D9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7D9D1"/>
                </a:solidFill>
                <a:latin typeface="Arial"/>
                <a:ea typeface="Arial"/>
                <a:cs typeface="Arial"/>
              </a:rPr>
              <a:t>Still to establish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9CB75-BEC9-43AA-83B5-A075B6E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Real company data and wider user testing</a:t>
            </a:r>
          </a:p>
          <a:p xmlns:a="http://schemas.openxmlformats.org/drawingml/2006/main">
            <a:pPr>
              <a:buNone/>
              <a:defRPr sz="2100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Independent review-quality benchmarks</a:t>
            </a:r>
          </a:p>
          <a:p xmlns:a="http://schemas.openxmlformats.org/drawingml/2006/main">
            <a:pPr>
              <a:buNone/>
              <a:defRPr sz="2100" b="0">
                <a:solidFill>
                  <a:srgbClr val="B4CAD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4CAD4"/>
                </a:solidFill>
                <a:latin typeface="Arial"/>
                <a:ea typeface="Arial"/>
                <a:cs typeface="Arial"/>
              </a:rPr>
              <a:t>Reliability across repeated public runs</a:t>
            </a:r>
          </a:p>
        </p:txBody>
      </p:sp>
    </p:spTree>
    <p:extLst>
      <p:ext uri="{BB962C8B-B14F-4D97-AF65-F5344CB8AC3E}">
        <p14:creationId xmlns:p14="http://schemas.microsoft.com/office/powerpoint/2010/main" val="27645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2026-10-10T06:18:19.7900000Z</dcterms:created>
  <dcterms:modified xsi:type="dcterms:W3CDTF">2026-10-10T06:18:19.7900000Z</dcterms:modified>
</coreProperties>
</file>